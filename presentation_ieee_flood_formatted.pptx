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7"/>
    <p:sldId id="266" r:id="rId6"/>
    <p:sldId id="267" r:id="rId5"/>
    <p:sldId id="268" r:id="rId20"/>
    <p:sldId id="269" r:id="rId21"/>
    <p:sldId id="270" r:id="rId22"/>
    <p:sldId id="271" r:id="rId23"/>
  </p:sldIdLst>
  <p:sldSz cy="6858000" cx="12192000"/>
  <p:notesSz cx="6858000" cy="9144000"/>
  <p:embeddedFontLst>
    <p:embeddedFont>
      <p:font typeface="Gill Sans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i7ZuvhkXg0PNgyeyOXTDMw5gBE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2.xml"/><Relationship Id="rId6" Type="http://schemas.openxmlformats.org/officeDocument/2006/relationships/slide" Target="slides/slide11.xml"/><Relationship Id="rId7" Type="http://schemas.openxmlformats.org/officeDocument/2006/relationships/slide" Target="slides/slide10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font" Target="fonts/GillSans-regular.fntdata"/><Relationship Id="rId18" Type="http://schemas.openxmlformats.org/officeDocument/2006/relationships/font" Target="fonts/GillSans-bold.fntdata"/><Relationship Id="rId19" Type="http://customschemas.google.com/relationships/presentationmetadata" Target="metadata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4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4"/>
          <p:cNvSpPr txBox="1"/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" type="subTitle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4"/>
          <p:cNvSpPr txBox="1"/>
          <p:nvPr>
            <p:ph idx="10" type="dt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F276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F276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2" type="sldNum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5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" type="body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2" type="sldNum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6"/>
          <p:cNvSpPr txBox="1"/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b="0" sz="3600" cap="none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16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F276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6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F276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7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7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7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8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8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8"/>
          <p:cNvSpPr txBox="1"/>
          <p:nvPr>
            <p:ph idx="1" type="body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40"/>
              </a:spcBef>
              <a:spcAft>
                <a:spcPts val="0"/>
              </a:spcAft>
              <a:buSzPts val="2024"/>
              <a:buNone/>
              <a:defRPr b="0" sz="220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56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b="1" sz="1600"/>
            </a:lvl9pPr>
          </a:lstStyle>
          <a:p/>
        </p:txBody>
      </p:sp>
      <p:sp>
        <p:nvSpPr>
          <p:cNvPr id="51" name="Google Shape;51;p18"/>
          <p:cNvSpPr txBox="1"/>
          <p:nvPr>
            <p:ph idx="2" type="body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3" type="body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40"/>
              </a:spcBef>
              <a:spcAft>
                <a:spcPts val="0"/>
              </a:spcAft>
              <a:buSzPts val="2024"/>
              <a:buNone/>
              <a:defRPr b="0" sz="220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56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b="1" sz="1600"/>
            </a:lvl9pPr>
          </a:lstStyle>
          <a:p/>
        </p:txBody>
      </p:sp>
      <p:sp>
        <p:nvSpPr>
          <p:cNvPr id="53" name="Google Shape;53;p18"/>
          <p:cNvSpPr txBox="1"/>
          <p:nvPr>
            <p:ph idx="4" type="body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54" name="Google Shape;54;p18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8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9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9"/>
          <p:cNvSpPr txBox="1"/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9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9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0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0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1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1"/>
          <p:cNvSpPr txBox="1"/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F276A"/>
              </a:buClr>
              <a:buSzPts val="2000"/>
              <a:buFont typeface="Gill Sans"/>
              <a:buNone/>
              <a:defRPr b="0" sz="2000">
                <a:solidFill>
                  <a:srgbClr val="9F276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5440" lvl="0" marL="457200" algn="l"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indent="-322072" lvl="2" marL="1371600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indent="-310388" lvl="3" marL="18288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indent="-310388" lvl="4" marL="22860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indent="-310388" lvl="5" marL="27432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indent="-310388" lvl="6" marL="32004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indent="-310388" lvl="7" marL="36576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indent="-310388" lvl="8" marL="4114800" algn="l"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1" name="Google Shape;71;p21"/>
          <p:cNvSpPr txBox="1"/>
          <p:nvPr>
            <p:ph idx="2" type="body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72" name="Google Shape;72;p21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F276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F276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1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2"/>
          <p:cNvSpPr txBox="1"/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b="0" sz="24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2"/>
          <p:cNvSpPr/>
          <p:nvPr>
            <p:ph idx="2" type="pic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22"/>
          <p:cNvSpPr txBox="1"/>
          <p:nvPr>
            <p:ph idx="1" type="body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79" name="Google Shape;79;p22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2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3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3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3"/>
          <p:cNvSpPr txBox="1"/>
          <p:nvPr>
            <p:ph idx="1" type="body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22072" lvl="1" marL="914400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indent="-310388" lvl="2" marL="13716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indent="-298703" lvl="3" marL="1828800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indent="-298704" lvl="4" marL="2286000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86" name="Google Shape;86;p23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3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3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4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4"/>
          <p:cNvSpPr txBox="1"/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4"/>
          <p:cNvSpPr txBox="1"/>
          <p:nvPr>
            <p:ph idx="1" type="body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93" name="Google Shape;93;p24"/>
          <p:cNvSpPr txBox="1"/>
          <p:nvPr>
            <p:ph idx="10" type="dt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F276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4"/>
          <p:cNvSpPr txBox="1"/>
          <p:nvPr>
            <p:ph idx="11" type="ftr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4"/>
          <p:cNvSpPr txBox="1"/>
          <p:nvPr>
            <p:ph idx="12" type="sldNum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22072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b="0" i="0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10388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98703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8704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298704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8704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8703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98703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5" name="Google Shape;15;p13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3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3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5" name="TextBox 4"/>
          <p:cNvSpPr txBox="1"/>
          <p:nvPr/>
        </p:nvSpPr>
        <p:spPr>
          <a:xfrm>
            <a:off x="4023360" y="0"/>
            <a:ext cx="8168640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6" name="TextBox 5"/>
          <p:cNvSpPr txBox="1"/>
          <p:nvPr/>
        </p:nvSpPr>
        <p:spPr>
          <a:xfrm>
            <a:off x="8046720" y="0"/>
            <a:ext cx="4145280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7" name="TextBox 6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8" name="TextBox 7"/>
          <p:cNvSpPr txBox="1"/>
          <p:nvPr/>
        </p:nvSpPr>
        <p:spPr>
          <a:xfrm>
            <a:off x="975360" y="1463040"/>
            <a:ext cx="10241280" cy="195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/>
              <a:t>Parameterized Quantum Circuits for Graph-Based Flood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901440"/>
            <a:ext cx="10972800" cy="48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/>
              <a:t>Aditya Jyoti          Arohi Anvi          Aditya Prakash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511040"/>
            <a:ext cx="1097280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/>
              <a:t>Department of Computer Science and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0"/>
            <a:ext cx="1219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5" name="TextBox 4"/>
          <p:cNvSpPr txBox="1"/>
          <p:nvPr/>
        </p:nvSpPr>
        <p:spPr>
          <a:xfrm>
            <a:off x="6096000" y="0"/>
            <a:ext cx="609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6" name="TextBox 5"/>
          <p:cNvSpPr txBox="1"/>
          <p:nvPr/>
        </p:nvSpPr>
        <p:spPr>
          <a:xfrm>
            <a:off x="365760" y="0"/>
            <a:ext cx="1036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/>
              <a:t>Presentation Outline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5364480" cy="70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8" name="TextBox 7"/>
          <p:cNvSpPr txBox="1"/>
          <p:nvPr/>
        </p:nvSpPr>
        <p:spPr>
          <a:xfrm>
            <a:off x="487680" y="1243584"/>
            <a:ext cx="414528" cy="41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9" name="TextBox 8"/>
          <p:cNvSpPr txBox="1"/>
          <p:nvPr/>
        </p:nvSpPr>
        <p:spPr>
          <a:xfrm>
            <a:off x="487680" y="1243584"/>
            <a:ext cx="414528" cy="41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/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5360" y="1170432"/>
            <a:ext cx="463296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000" b="1"/>
              <a:t>Introduction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360" y="1475232"/>
            <a:ext cx="4632960" cy="24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800"/>
              <a:t>Why flood prediction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097280"/>
            <a:ext cx="5364480" cy="70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13" name="TextBox 12"/>
          <p:cNvSpPr txBox="1"/>
          <p:nvPr/>
        </p:nvSpPr>
        <p:spPr>
          <a:xfrm>
            <a:off x="6339840" y="1243584"/>
            <a:ext cx="414528" cy="41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14" name="TextBox 13"/>
          <p:cNvSpPr txBox="1"/>
          <p:nvPr/>
        </p:nvSpPr>
        <p:spPr>
          <a:xfrm>
            <a:off x="6339840" y="1243584"/>
            <a:ext cx="414528" cy="41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/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27520" y="1170432"/>
            <a:ext cx="463296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000" b="1"/>
              <a:t>Dataset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7520" y="1475232"/>
            <a:ext cx="4632960" cy="24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800"/>
              <a:t>Ganga-Brahmaputra basin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1950720"/>
            <a:ext cx="5364480" cy="70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18" name="TextBox 17"/>
          <p:cNvSpPr txBox="1"/>
          <p:nvPr/>
        </p:nvSpPr>
        <p:spPr>
          <a:xfrm>
            <a:off x="487680" y="2097024"/>
            <a:ext cx="414528" cy="41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19" name="TextBox 18"/>
          <p:cNvSpPr txBox="1"/>
          <p:nvPr/>
        </p:nvSpPr>
        <p:spPr>
          <a:xfrm>
            <a:off x="487680" y="2097024"/>
            <a:ext cx="414528" cy="41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/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360" y="2023872"/>
            <a:ext cx="463296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000" b="1"/>
              <a:t>QGNN 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5360" y="2328672"/>
            <a:ext cx="4632960" cy="24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800"/>
              <a:t>Hybrid quantum-classical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950720"/>
            <a:ext cx="5364480" cy="70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23" name="TextBox 22"/>
          <p:cNvSpPr txBox="1"/>
          <p:nvPr/>
        </p:nvSpPr>
        <p:spPr>
          <a:xfrm>
            <a:off x="6339840" y="2097024"/>
            <a:ext cx="414528" cy="41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24" name="TextBox 23"/>
          <p:cNvSpPr txBox="1"/>
          <p:nvPr/>
        </p:nvSpPr>
        <p:spPr>
          <a:xfrm>
            <a:off x="6339840" y="2097024"/>
            <a:ext cx="414528" cy="41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/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27520" y="2023872"/>
            <a:ext cx="463296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000" b="1"/>
              <a:t>Quantum Circuit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27520" y="2328672"/>
            <a:ext cx="4632960" cy="24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800"/>
              <a:t>8-qubit VQC with CZ ladder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2804160"/>
            <a:ext cx="5364480" cy="70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28" name="TextBox 27"/>
          <p:cNvSpPr txBox="1"/>
          <p:nvPr/>
        </p:nvSpPr>
        <p:spPr>
          <a:xfrm>
            <a:off x="487680" y="2950464"/>
            <a:ext cx="414528" cy="41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29" name="TextBox 28"/>
          <p:cNvSpPr txBox="1"/>
          <p:nvPr/>
        </p:nvSpPr>
        <p:spPr>
          <a:xfrm>
            <a:off x="487680" y="2950464"/>
            <a:ext cx="414528" cy="41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/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5360" y="2877312"/>
            <a:ext cx="463296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000" b="1"/>
              <a:t>Experimental Setup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5360" y="3182112"/>
            <a:ext cx="4632960" cy="24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800"/>
              <a:t>7 models x 3 seeds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2804160"/>
            <a:ext cx="5364480" cy="70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33" name="TextBox 32"/>
          <p:cNvSpPr txBox="1"/>
          <p:nvPr/>
        </p:nvSpPr>
        <p:spPr>
          <a:xfrm>
            <a:off x="6339840" y="2950464"/>
            <a:ext cx="414528" cy="41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34" name="TextBox 33"/>
          <p:cNvSpPr txBox="1"/>
          <p:nvPr/>
        </p:nvSpPr>
        <p:spPr>
          <a:xfrm>
            <a:off x="6339840" y="2950464"/>
            <a:ext cx="414528" cy="41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/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27520" y="2877312"/>
            <a:ext cx="463296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000" b="1"/>
              <a:t>Results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27520" y="3182112"/>
            <a:ext cx="4632960" cy="24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800"/>
              <a:t>Performance comparison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3657600"/>
            <a:ext cx="5364480" cy="70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38" name="TextBox 37"/>
          <p:cNvSpPr txBox="1"/>
          <p:nvPr/>
        </p:nvSpPr>
        <p:spPr>
          <a:xfrm>
            <a:off x="487680" y="3803904"/>
            <a:ext cx="414528" cy="41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39" name="TextBox 38"/>
          <p:cNvSpPr txBox="1"/>
          <p:nvPr/>
        </p:nvSpPr>
        <p:spPr>
          <a:xfrm>
            <a:off x="487680" y="3803904"/>
            <a:ext cx="414528" cy="41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/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5360" y="3730752"/>
            <a:ext cx="463296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000" b="1"/>
              <a:t>Fisher Analysis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5360" y="4035552"/>
            <a:ext cx="4632960" cy="24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800"/>
              <a:t>Quantum expressiveness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3657600"/>
            <a:ext cx="5364480" cy="70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43" name="TextBox 42"/>
          <p:cNvSpPr txBox="1"/>
          <p:nvPr/>
        </p:nvSpPr>
        <p:spPr>
          <a:xfrm>
            <a:off x="6339840" y="3730752"/>
            <a:ext cx="518160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000" b="1"/>
              <a:t>47% parameter reduction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39840" y="4047744"/>
            <a:ext cx="5181600" cy="24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800"/>
              <a:t>with 98.77% ROC-AUC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0"/>
            <a:ext cx="1219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5" name="TextBox 4"/>
          <p:cNvSpPr txBox="1"/>
          <p:nvPr/>
        </p:nvSpPr>
        <p:spPr>
          <a:xfrm>
            <a:off x="6096000" y="0"/>
            <a:ext cx="609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6" name="TextBox 5"/>
          <p:cNvSpPr txBox="1"/>
          <p:nvPr/>
        </p:nvSpPr>
        <p:spPr>
          <a:xfrm>
            <a:off x="365760" y="0"/>
            <a:ext cx="1036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/>
              <a:t>Introduction: Why Flood Prediction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5486400" cy="34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000" b="1"/>
              <a:t>The Global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63040"/>
            <a:ext cx="54864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9" name="TextBox 8"/>
          <p:cNvSpPr txBox="1"/>
          <p:nvPr/>
        </p:nvSpPr>
        <p:spPr>
          <a:xfrm>
            <a:off x="365760" y="1524000"/>
            <a:ext cx="5486400" cy="1158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10" name="TextBox 9"/>
          <p:cNvSpPr txBox="1"/>
          <p:nvPr/>
        </p:nvSpPr>
        <p:spPr>
          <a:xfrm>
            <a:off x="365760" y="1524000"/>
            <a:ext cx="60960" cy="1158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11" name="TextBox 10"/>
          <p:cNvSpPr txBox="1"/>
          <p:nvPr/>
        </p:nvSpPr>
        <p:spPr>
          <a:xfrm>
            <a:off x="487680" y="1584960"/>
            <a:ext cx="53035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900" b="1"/>
              <a:t>Flooding 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680" y="1914144"/>
            <a:ext cx="53035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800"/>
              <a:t>$50+ billion annual losses</a:t>
            </a:r>
          </a:p>
          <a:p>
            <a:pPr/>
            <a:r>
              <a:rPr sz="800"/>
              <a:t>Most destructive natural disaster</a:t>
            </a:r>
          </a:p>
          <a:p>
            <a:pPr/>
            <a:r>
              <a:rPr sz="800"/>
              <a:t>Climate change increasing frequency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743200"/>
            <a:ext cx="5486400" cy="1158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14" name="TextBox 13"/>
          <p:cNvSpPr txBox="1"/>
          <p:nvPr/>
        </p:nvSpPr>
        <p:spPr>
          <a:xfrm>
            <a:off x="365760" y="2743200"/>
            <a:ext cx="60960" cy="1158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15" name="TextBox 14"/>
          <p:cNvSpPr txBox="1"/>
          <p:nvPr/>
        </p:nvSpPr>
        <p:spPr>
          <a:xfrm>
            <a:off x="487680" y="2804160"/>
            <a:ext cx="53035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900" b="1"/>
              <a:t>Challenges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7680" y="3133344"/>
            <a:ext cx="53035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800"/>
              <a:t>Complex spatial-temporal data</a:t>
            </a:r>
          </a:p>
          <a:p>
            <a:pPr/>
            <a:r>
              <a:rPr sz="800"/>
              <a:t>Nonlinear terrain-rainfall interactions</a:t>
            </a:r>
          </a:p>
          <a:p>
            <a:pPr/>
            <a:r>
              <a:rPr sz="800"/>
              <a:t>Classical GNNs need many params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9840" y="1097280"/>
            <a:ext cx="5364480" cy="34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000" b="1"/>
              <a:t>Quantum Opportunity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9840" y="1463040"/>
            <a:ext cx="536448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19" name="TextBox 18"/>
          <p:cNvSpPr txBox="1"/>
          <p:nvPr/>
        </p:nvSpPr>
        <p:spPr>
          <a:xfrm>
            <a:off x="6339840" y="1524000"/>
            <a:ext cx="5364480" cy="1158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20" name="TextBox 19"/>
          <p:cNvSpPr txBox="1"/>
          <p:nvPr/>
        </p:nvSpPr>
        <p:spPr>
          <a:xfrm>
            <a:off x="6339840" y="1524000"/>
            <a:ext cx="60960" cy="1158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21" name="TextBox 20"/>
          <p:cNvSpPr txBox="1"/>
          <p:nvPr/>
        </p:nvSpPr>
        <p:spPr>
          <a:xfrm>
            <a:off x="6461760" y="1584960"/>
            <a:ext cx="5181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900" b="1"/>
              <a:t>Quantum Advantage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1760" y="1914144"/>
            <a:ext cx="5181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800"/>
              <a:t>256-D Hilbert space (8 qubits)</a:t>
            </a:r>
          </a:p>
          <a:p>
            <a:pPr/>
            <a:r>
              <a:rPr sz="800"/>
              <a:t>Entanglement captures correlations</a:t>
            </a:r>
          </a:p>
          <a:p>
            <a:pPr/>
            <a:r>
              <a:rPr sz="800"/>
              <a:t>Parameter-efficient features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9840" y="2743200"/>
            <a:ext cx="5364480" cy="1158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24" name="TextBox 23"/>
          <p:cNvSpPr txBox="1"/>
          <p:nvPr/>
        </p:nvSpPr>
        <p:spPr>
          <a:xfrm>
            <a:off x="6339840" y="2743200"/>
            <a:ext cx="60960" cy="1158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25" name="TextBox 24"/>
          <p:cNvSpPr txBox="1"/>
          <p:nvPr/>
        </p:nvSpPr>
        <p:spPr>
          <a:xfrm>
            <a:off x="6461760" y="2804160"/>
            <a:ext cx="5181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900" b="1"/>
              <a:t>Our Goal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1760" y="3133344"/>
            <a:ext cx="5181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800"/>
              <a:t>Validate NISQ-era quantum ML</a:t>
            </a:r>
          </a:p>
          <a:p>
            <a:pPr/>
            <a:r>
              <a:rPr sz="800"/>
              <a:t>Achieve parameter efficiency</a:t>
            </a:r>
          </a:p>
          <a:p>
            <a:pPr/>
            <a:r>
              <a:rPr sz="800"/>
              <a:t>Fisher Information 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9840" y="4023360"/>
            <a:ext cx="5364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28" name="TextBox 27"/>
          <p:cNvSpPr txBox="1"/>
          <p:nvPr/>
        </p:nvSpPr>
        <p:spPr>
          <a:xfrm>
            <a:off x="6339840" y="4023360"/>
            <a:ext cx="60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29" name="TextBox 28"/>
          <p:cNvSpPr txBox="1"/>
          <p:nvPr/>
        </p:nvSpPr>
        <p:spPr>
          <a:xfrm>
            <a:off x="6486144" y="4023360"/>
            <a:ext cx="5181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850"/>
              <a:t>Key Insight: 8-qubit circuits match classical accuracy with 47% fewer parameters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023360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31" name="TextBox 30"/>
          <p:cNvSpPr txBox="1"/>
          <p:nvPr/>
        </p:nvSpPr>
        <p:spPr>
          <a:xfrm>
            <a:off x="365760" y="4023360"/>
            <a:ext cx="60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32" name="TextBox 31"/>
          <p:cNvSpPr txBox="1"/>
          <p:nvPr/>
        </p:nvSpPr>
        <p:spPr>
          <a:xfrm>
            <a:off x="512064" y="4023360"/>
            <a:ext cx="5303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850"/>
              <a:t>South Asia: floods affect 250M+ people annually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/>
              <a:t>LITERATURE REVIEW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1400"/>
              </a:spcAft>
            </a:pPr>
            <a:r>
              <a:rPr sz="2200" b="1"/>
              <a:t>GNN for Hydrology: </a:t>
            </a:r>
            <a:r>
              <a:rPr sz="2000"/>
              <a:t>Kipf &amp; Welling GCN (2017), Hamilton et al. GraphSAGE (2017), Veličković et al. GAT (2018)</a:t>
            </a:r>
          </a:p>
          <a:p>
            <a:pPr>
              <a:spcAft>
                <a:spcPts val="1400"/>
              </a:spcAft>
            </a:pPr>
            <a:r>
              <a:rPr sz="2200" b="1"/>
              <a:t>ML in Hydrology: </a:t>
            </a:r>
            <a:r>
              <a:rPr sz="2000"/>
              <a:t>Kratzert et al. LSTM rainfall-runoff (2018), Jia et al. physics-informed NNs (2021)</a:t>
            </a:r>
          </a:p>
          <a:p>
            <a:pPr>
              <a:spcAft>
                <a:spcPts val="1400"/>
              </a:spcAft>
            </a:pPr>
            <a:r>
              <a:rPr sz="2200" b="1"/>
              <a:t>Quantum ML Theory: </a:t>
            </a:r>
            <a:r>
              <a:rPr sz="2000"/>
              <a:t>Schuld et al. quantum feature maps (2019, 2021), Huang et al. power of data in QML (2021)</a:t>
            </a:r>
          </a:p>
          <a:p>
            <a:pPr>
              <a:spcAft>
                <a:spcPts val="1400"/>
              </a:spcAft>
            </a:pPr>
            <a:r>
              <a:rPr sz="2200" b="1"/>
              <a:t>Hybrid Architectures: </a:t>
            </a:r>
            <a:r>
              <a:rPr sz="2000"/>
              <a:t>Cerezo et al. variational quantum algorithms (2021), Cong et al. quantum CNNs (2019)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/>
              <a:t>PROBLEM FORMULATION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1400"/>
              </a:spcAft>
            </a:pPr>
            <a:r>
              <a:rPr sz="2200" b="1"/>
              <a:t>Graph Structure: </a:t>
            </a:r>
            <a:r>
              <a:rPr sz="2000"/>
              <a:t>G = (V, E) with |V|=50 gauge nodes, |E|=303 edges</a:t>
            </a:r>
          </a:p>
          <a:p>
            <a:pPr>
              <a:spcAft>
                <a:spcPts val="1400"/>
              </a:spcAft>
            </a:pPr>
            <a:r>
              <a:rPr sz="2200" b="1"/>
              <a:t>Node Features: </a:t>
            </a:r>
            <a:r>
              <a:rPr sz="2000"/>
              <a:t>X ∈ ℝ^(50×6): 3-day rainfall, elevation, slope, river distance</a:t>
            </a:r>
          </a:p>
          <a:p>
            <a:pPr>
              <a:spcAft>
                <a:spcPts val="1400"/>
              </a:spcAft>
            </a:pPr>
            <a:r>
              <a:rPr sz="2200" b="1"/>
              <a:t>Labels: </a:t>
            </a:r>
            <a:r>
              <a:rPr sz="2000"/>
              <a:t>y ∈ {0,1}^50: Binary flood indicator (27% flood-positive)</a:t>
            </a:r>
          </a:p>
          <a:p>
            <a:pPr>
              <a:spcAft>
                <a:spcPts val="1400"/>
              </a:spcAft>
            </a:pPr>
            <a:r>
              <a:rPr sz="2200" b="1"/>
              <a:t>Temporal Data: </a:t>
            </a:r>
            <a:r>
              <a:rPr sz="2000"/>
              <a:t>999 temporal graphs from 1,002 days (2018-2020)</a:t>
            </a:r>
          </a:p>
          <a:p>
            <a:pPr>
              <a:spcAft>
                <a:spcPts val="1400"/>
              </a:spcAft>
            </a:pPr>
            <a:r>
              <a:rPr sz="2200" b="1"/>
              <a:t>Task: </a:t>
            </a:r>
            <a:r>
              <a:rPr sz="2000"/>
              <a:t>Predict node-level flood probability at t+1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/>
              <a:t>NOVELTY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1400"/>
              </a:spcAft>
            </a:pPr>
            <a:r>
              <a:rPr sz="2200" b="1"/>
              <a:t>8-Qubit Hybrid Architecture: </a:t>
            </a:r>
            <a:r>
              <a:rPr sz="2000"/>
              <a:t>Novel CZ ladder + CNOT ring entanglement pattern</a:t>
            </a:r>
          </a:p>
          <a:p>
            <a:pPr>
              <a:spcAft>
                <a:spcPts val="1400"/>
              </a:spcAft>
            </a:pPr>
            <a:r>
              <a:rPr sz="2200" b="1"/>
              <a:t>Fisher Information Analysis: </a:t>
            </a:r>
            <a:r>
              <a:rPr sz="2000"/>
              <a:t>FIM-based validation of quantum expressiveness</a:t>
            </a:r>
          </a:p>
          <a:p>
            <a:pPr>
              <a:spcAft>
                <a:spcPts val="1400"/>
              </a:spcAft>
            </a:pPr>
            <a:r>
              <a:rPr sz="2200" b="1"/>
              <a:t>Parameter Efficiency: </a:t>
            </a:r>
            <a:r>
              <a:rPr sz="2000"/>
              <a:t>47% reduction (3,463 vs 6,721 params) with 98.77% ROC-AUC</a:t>
            </a:r>
          </a:p>
          <a:p>
            <a:pPr>
              <a:spcAft>
                <a:spcPts val="1400"/>
              </a:spcAft>
            </a:pPr>
            <a:r>
              <a:rPr sz="2200" b="1"/>
              <a:t>Rigorous Validation: </a:t>
            </a:r>
            <a:r>
              <a:rPr sz="2000"/>
              <a:t>21 experiments (7 models × 3 seeds) with ablations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0"/>
            <a:ext cx="1219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5" name="TextBox 4"/>
          <p:cNvSpPr txBox="1"/>
          <p:nvPr/>
        </p:nvSpPr>
        <p:spPr>
          <a:xfrm>
            <a:off x="6096000" y="0"/>
            <a:ext cx="609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6" name="TextBox 5"/>
          <p:cNvSpPr txBox="1"/>
          <p:nvPr/>
        </p:nvSpPr>
        <p:spPr>
          <a:xfrm>
            <a:off x="365760" y="0"/>
            <a:ext cx="1036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/>
              <a:t>QGNN Architecture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2752" y="1194816"/>
            <a:ext cx="1316736" cy="67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8" name="TextBox 7"/>
          <p:cNvSpPr txBox="1"/>
          <p:nvPr/>
        </p:nvSpPr>
        <p:spPr>
          <a:xfrm>
            <a:off x="682752" y="1267968"/>
            <a:ext cx="1316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/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2752" y="1560576"/>
            <a:ext cx="1316736" cy="24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/>
              <a:t>50x6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9488" y="1194816"/>
            <a:ext cx="268224" cy="67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67712" y="1194816"/>
            <a:ext cx="1316736" cy="67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12" name="TextBox 11"/>
          <p:cNvSpPr txBox="1"/>
          <p:nvPr/>
        </p:nvSpPr>
        <p:spPr>
          <a:xfrm>
            <a:off x="2267712" y="1267968"/>
            <a:ext cx="1316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/>
              <a:t>GCN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67712" y="1560576"/>
            <a:ext cx="1316736" cy="24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/>
              <a:t>6-32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1194816"/>
            <a:ext cx="268224" cy="67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2672" y="1194816"/>
            <a:ext cx="1316736" cy="67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16" name="TextBox 15"/>
          <p:cNvSpPr txBox="1"/>
          <p:nvPr/>
        </p:nvSpPr>
        <p:spPr>
          <a:xfrm>
            <a:off x="3852672" y="1267968"/>
            <a:ext cx="1316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/>
              <a:t>GCN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2672" y="1560576"/>
            <a:ext cx="1316736" cy="24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/>
              <a:t>32-32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9408" y="1194816"/>
            <a:ext cx="268224" cy="67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37632" y="1194816"/>
            <a:ext cx="1316736" cy="67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20" name="TextBox 19"/>
          <p:cNvSpPr txBox="1"/>
          <p:nvPr/>
        </p:nvSpPr>
        <p:spPr>
          <a:xfrm>
            <a:off x="5437632" y="1267968"/>
            <a:ext cx="1316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/>
              <a:t>Quantum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37632" y="1560576"/>
            <a:ext cx="1316736" cy="24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/>
              <a:t>8-qubit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54368" y="1194816"/>
            <a:ext cx="268224" cy="67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2592" y="1194816"/>
            <a:ext cx="1316736" cy="67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24" name="TextBox 23"/>
          <p:cNvSpPr txBox="1"/>
          <p:nvPr/>
        </p:nvSpPr>
        <p:spPr>
          <a:xfrm>
            <a:off x="7022592" y="1267968"/>
            <a:ext cx="1316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/>
              <a:t>Concat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22592" y="1560576"/>
            <a:ext cx="1316736" cy="24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/>
              <a:t>40D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1194816"/>
            <a:ext cx="268224" cy="67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07552" y="1194816"/>
            <a:ext cx="1316736" cy="67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28" name="TextBox 27"/>
          <p:cNvSpPr txBox="1"/>
          <p:nvPr/>
        </p:nvSpPr>
        <p:spPr>
          <a:xfrm>
            <a:off x="8607552" y="1267968"/>
            <a:ext cx="1316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/>
              <a:t>GCN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07552" y="1560576"/>
            <a:ext cx="1316736" cy="24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/>
              <a:t>40-32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4288" y="1194816"/>
            <a:ext cx="268224" cy="67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92512" y="1194816"/>
            <a:ext cx="1316736" cy="67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32" name="TextBox 31"/>
          <p:cNvSpPr txBox="1"/>
          <p:nvPr/>
        </p:nvSpPr>
        <p:spPr>
          <a:xfrm>
            <a:off x="10192512" y="1267968"/>
            <a:ext cx="1316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/>
              <a:t>MLP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92512" y="1560576"/>
            <a:ext cx="1316736" cy="24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/>
              <a:t>32-1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2072640"/>
            <a:ext cx="3657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35" name="TextBox 34"/>
          <p:cNvSpPr txBox="1"/>
          <p:nvPr/>
        </p:nvSpPr>
        <p:spPr>
          <a:xfrm>
            <a:off x="365760" y="2072640"/>
            <a:ext cx="60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36" name="TextBox 35"/>
          <p:cNvSpPr txBox="1"/>
          <p:nvPr/>
        </p:nvSpPr>
        <p:spPr>
          <a:xfrm>
            <a:off x="487680" y="2133600"/>
            <a:ext cx="34747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900" b="1"/>
              <a:t>Classical Encoder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7680" y="2462784"/>
            <a:ext cx="3474720" cy="99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800"/>
              <a:t>2 GCN layers + ReLU</a:t>
            </a:r>
          </a:p>
          <a:p>
            <a:pPr/>
            <a:r>
              <a:rPr sz="800"/>
              <a:t>Dropout (p=0.3)</a:t>
            </a:r>
          </a:p>
          <a:p>
            <a:pPr/>
            <a:r>
              <a:rPr sz="800"/>
              <a:t>Graph-aware embeddings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67200" y="2072640"/>
            <a:ext cx="3657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39" name="TextBox 38"/>
          <p:cNvSpPr txBox="1"/>
          <p:nvPr/>
        </p:nvSpPr>
        <p:spPr>
          <a:xfrm>
            <a:off x="4267200" y="2072640"/>
            <a:ext cx="60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40" name="TextBox 39"/>
          <p:cNvSpPr txBox="1"/>
          <p:nvPr/>
        </p:nvSpPr>
        <p:spPr>
          <a:xfrm>
            <a:off x="4389120" y="2133600"/>
            <a:ext cx="34747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900" b="1"/>
              <a:t>Quantum Layer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9120" y="2462784"/>
            <a:ext cx="3474720" cy="99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800"/>
              <a:t>Project 32D to 8D via tanh</a:t>
            </a:r>
          </a:p>
          <a:p>
            <a:pPr/>
            <a:r>
              <a:rPr sz="800"/>
              <a:t>8-qubit variational circuit</a:t>
            </a:r>
          </a:p>
          <a:p>
            <a:pPr/>
            <a:r>
              <a:rPr sz="800"/>
              <a:t>Pauli-Z measurements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68640" y="2072640"/>
            <a:ext cx="3657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43" name="TextBox 42"/>
          <p:cNvSpPr txBox="1"/>
          <p:nvPr/>
        </p:nvSpPr>
        <p:spPr>
          <a:xfrm>
            <a:off x="8168640" y="2072640"/>
            <a:ext cx="60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44" name="TextBox 43"/>
          <p:cNvSpPr txBox="1"/>
          <p:nvPr/>
        </p:nvSpPr>
        <p:spPr>
          <a:xfrm>
            <a:off x="8290560" y="2133600"/>
            <a:ext cx="34747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900" b="1"/>
              <a:t>Skip Connection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90560" y="2462784"/>
            <a:ext cx="3474720" cy="99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800"/>
              <a:t>Concat: [32 + 8] = 40D</a:t>
            </a:r>
          </a:p>
          <a:p>
            <a:pPr/>
            <a:r>
              <a:rPr sz="800"/>
              <a:t>Preserves classical features</a:t>
            </a:r>
          </a:p>
          <a:p>
            <a:pPr/>
            <a:r>
              <a:rPr sz="800"/>
              <a:t>Adds quantum expressiveness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3718560"/>
            <a:ext cx="11582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47" name="TextBox 46"/>
          <p:cNvSpPr txBox="1"/>
          <p:nvPr/>
        </p:nvSpPr>
        <p:spPr>
          <a:xfrm>
            <a:off x="365760" y="3718560"/>
            <a:ext cx="60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48" name="TextBox 47"/>
          <p:cNvSpPr txBox="1"/>
          <p:nvPr/>
        </p:nvSpPr>
        <p:spPr>
          <a:xfrm>
            <a:off x="512064" y="3718560"/>
            <a:ext cx="11399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850"/>
              <a:t>Total Parameters: 62 quantum + 3,401 classical = 3,463  (vs 6,721 for GCN baseline)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4" name="TextBox 3"/>
          <p:cNvSpPr txBox="1"/>
          <p:nvPr/>
        </p:nvSpPr>
        <p:spPr>
          <a:xfrm>
            <a:off x="365760" y="0"/>
            <a:ext cx="1036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/>
              <a:t>8-Qubit Variational Quantum Circuit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5486400" cy="34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000" b="1"/>
              <a:t>Circuit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54864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7" name="TextBox 6"/>
          <p:cNvSpPr txBox="1"/>
          <p:nvPr/>
        </p:nvSpPr>
        <p:spPr>
          <a:xfrm>
            <a:off x="365760" y="1487424"/>
            <a:ext cx="5486400" cy="829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8" name="TextBox 7"/>
          <p:cNvSpPr txBox="1"/>
          <p:nvPr/>
        </p:nvSpPr>
        <p:spPr>
          <a:xfrm>
            <a:off x="365760" y="1487424"/>
            <a:ext cx="60960" cy="829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9" name="TextBox 8"/>
          <p:cNvSpPr txBox="1"/>
          <p:nvPr/>
        </p:nvSpPr>
        <p:spPr>
          <a:xfrm>
            <a:off x="487680" y="1548384"/>
            <a:ext cx="53035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900" b="1"/>
              <a:t>1  Angle Encoding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7680" y="187756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800"/>
              <a:t>RY(pi*theta_j) on each qubit j in {0,...,7}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389632"/>
            <a:ext cx="5486400" cy="103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12" name="TextBox 11"/>
          <p:cNvSpPr txBox="1"/>
          <p:nvPr/>
        </p:nvSpPr>
        <p:spPr>
          <a:xfrm>
            <a:off x="365760" y="2389632"/>
            <a:ext cx="60960" cy="103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13" name="TextBox 12"/>
          <p:cNvSpPr txBox="1"/>
          <p:nvPr/>
        </p:nvSpPr>
        <p:spPr>
          <a:xfrm>
            <a:off x="487680" y="2450592"/>
            <a:ext cx="53035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900" b="1"/>
              <a:t>2  Variational Layer (x2)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680" y="2779776"/>
            <a:ext cx="5303520" cy="573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800"/>
              <a:t>Rot(phi, theta, omega): 3 params/qubit</a:t>
            </a:r>
          </a:p>
          <a:p>
            <a:pPr/>
            <a:r>
              <a:rPr sz="800"/>
              <a:t>CNOT Ring: Circular entanglement</a:t>
            </a:r>
          </a:p>
          <a:p>
            <a:pPr/>
            <a:r>
              <a:rPr sz="800"/>
              <a:t>CZ Ladder: Phase correlations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499104"/>
            <a:ext cx="5486400" cy="792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16" name="TextBox 15"/>
          <p:cNvSpPr txBox="1"/>
          <p:nvPr/>
        </p:nvSpPr>
        <p:spPr>
          <a:xfrm>
            <a:off x="365760" y="3499104"/>
            <a:ext cx="60960" cy="792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17" name="TextBox 16"/>
          <p:cNvSpPr txBox="1"/>
          <p:nvPr/>
        </p:nvSpPr>
        <p:spPr>
          <a:xfrm>
            <a:off x="487680" y="3560064"/>
            <a:ext cx="53035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900" b="1"/>
              <a:t>3  Measurement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680" y="388924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800"/>
              <a:t>Pauli-Z expectation values in [-1, 1] for all 8 qubits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9840" y="1097280"/>
            <a:ext cx="5364480" cy="34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000" b="1"/>
              <a:t>Novel CZ Ladder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9840" y="1463040"/>
            <a:ext cx="536448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21" name="TextBox 20"/>
          <p:cNvSpPr txBox="1"/>
          <p:nvPr/>
        </p:nvSpPr>
        <p:spPr>
          <a:xfrm>
            <a:off x="6339840" y="1487424"/>
            <a:ext cx="5364480" cy="121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22" name="TextBox 21"/>
          <p:cNvSpPr txBox="1"/>
          <p:nvPr/>
        </p:nvSpPr>
        <p:spPr>
          <a:xfrm>
            <a:off x="6522720" y="1560576"/>
            <a:ext cx="49987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900" b="1"/>
              <a:t>Why CZ + CNOT?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720" y="1901952"/>
            <a:ext cx="499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800"/>
              <a:t>CNOT Ring: Circular entanglement</a:t>
            </a:r>
          </a:p>
          <a:p>
            <a:pPr/>
            <a:r>
              <a:rPr sz="800"/>
              <a:t>CZ Ladder: Phase-based correlations</a:t>
            </a:r>
          </a:p>
          <a:p>
            <a:pPr/>
            <a:r>
              <a:rPr sz="800"/>
              <a:t>Combined = stronger entanglement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9840" y="28651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25" name="TextBox 24"/>
          <p:cNvSpPr txBox="1"/>
          <p:nvPr/>
        </p:nvSpPr>
        <p:spPr>
          <a:xfrm>
            <a:off x="6339840" y="2962656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/>
              <a:t>48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9840" y="34594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/>
              <a:t>Rotation Params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865120"/>
            <a:ext cx="2316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28" name="TextBox 27"/>
          <p:cNvSpPr txBox="1"/>
          <p:nvPr/>
        </p:nvSpPr>
        <p:spPr>
          <a:xfrm>
            <a:off x="9144000" y="2962656"/>
            <a:ext cx="2316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/>
              <a:t>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459480"/>
            <a:ext cx="231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/>
              <a:t>CZ Params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9840" y="3925824"/>
            <a:ext cx="5364480" cy="48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31" name="TextBox 30"/>
          <p:cNvSpPr txBox="1"/>
          <p:nvPr/>
        </p:nvSpPr>
        <p:spPr>
          <a:xfrm>
            <a:off x="6339840" y="3925824"/>
            <a:ext cx="60960" cy="48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32" name="TextBox 31"/>
          <p:cNvSpPr txBox="1"/>
          <p:nvPr/>
        </p:nvSpPr>
        <p:spPr>
          <a:xfrm>
            <a:off x="6486144" y="3925824"/>
            <a:ext cx="5181600" cy="48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850"/>
              <a:t>8 qubits = 2^8 = 256-dimensional Hilbert space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0"/>
            <a:ext cx="1219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5" name="TextBox 4"/>
          <p:cNvSpPr txBox="1"/>
          <p:nvPr/>
        </p:nvSpPr>
        <p:spPr>
          <a:xfrm>
            <a:off x="6096000" y="0"/>
            <a:ext cx="609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6" name="TextBox 5"/>
          <p:cNvSpPr txBox="1"/>
          <p:nvPr/>
        </p:nvSpPr>
        <p:spPr>
          <a:xfrm>
            <a:off x="365760" y="0"/>
            <a:ext cx="1036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/>
              <a:t>Dataset: Ganga-Brahmaputra River Basin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2560320" cy="103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8" name="TextBox 7"/>
          <p:cNvSpPr txBox="1"/>
          <p:nvPr/>
        </p:nvSpPr>
        <p:spPr>
          <a:xfrm>
            <a:off x="365760" y="1194816"/>
            <a:ext cx="2560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/>
              <a:t>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7088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/>
              <a:t>Gauge Nodes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55264" y="1097280"/>
            <a:ext cx="2560320" cy="103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11" name="TextBox 10"/>
          <p:cNvSpPr txBox="1"/>
          <p:nvPr/>
        </p:nvSpPr>
        <p:spPr>
          <a:xfrm>
            <a:off x="3255264" y="1194816"/>
            <a:ext cx="2560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/>
              <a:t>999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55264" y="177088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/>
              <a:t>Temporal Graphs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44768" y="1097280"/>
            <a:ext cx="2560320" cy="103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14" name="TextBox 13"/>
          <p:cNvSpPr txBox="1"/>
          <p:nvPr/>
        </p:nvSpPr>
        <p:spPr>
          <a:xfrm>
            <a:off x="6144768" y="1194816"/>
            <a:ext cx="2560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/>
              <a:t>303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4768" y="177088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/>
              <a:t>Graph Edges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34272" y="1097280"/>
            <a:ext cx="2560320" cy="103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17" name="TextBox 16"/>
          <p:cNvSpPr txBox="1"/>
          <p:nvPr/>
        </p:nvSpPr>
        <p:spPr>
          <a:xfrm>
            <a:off x="9034272" y="1194816"/>
            <a:ext cx="2560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/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34272" y="177088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/>
              <a:t>Node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31648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20" name="TextBox 19"/>
          <p:cNvSpPr txBox="1"/>
          <p:nvPr/>
        </p:nvSpPr>
        <p:spPr>
          <a:xfrm>
            <a:off x="365760" y="2316480"/>
            <a:ext cx="6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21" name="TextBox 20"/>
          <p:cNvSpPr txBox="1"/>
          <p:nvPr/>
        </p:nvSpPr>
        <p:spPr>
          <a:xfrm>
            <a:off x="487680" y="2377440"/>
            <a:ext cx="53035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900" b="1"/>
              <a:t>Data Sources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7680" y="2706624"/>
            <a:ext cx="5303520" cy="1182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800"/>
              <a:t>ERA5-Land: Satellite rainfall (mean 4.5 mm/day)</a:t>
            </a:r>
          </a:p>
          <a:p>
            <a:pPr/>
            <a:r>
              <a:rPr sz="800"/>
              <a:t>SRTM: Elevation model (13-5808m)</a:t>
            </a:r>
          </a:p>
          <a:p>
            <a:pPr/>
            <a:r>
              <a:rPr sz="800"/>
              <a:t>Temporal: 1,002 days (2018-2020)</a:t>
            </a:r>
          </a:p>
          <a:p>
            <a:pPr/>
            <a:r>
              <a:rPr sz="800"/>
              <a:t>Region: 24-29N, 76-92E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316480"/>
            <a:ext cx="573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24" name="TextBox 23"/>
          <p:cNvSpPr txBox="1"/>
          <p:nvPr/>
        </p:nvSpPr>
        <p:spPr>
          <a:xfrm>
            <a:off x="6217920" y="2316480"/>
            <a:ext cx="6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25" name="TextBox 24"/>
          <p:cNvSpPr txBox="1"/>
          <p:nvPr/>
        </p:nvSpPr>
        <p:spPr>
          <a:xfrm>
            <a:off x="6339840" y="2377440"/>
            <a:ext cx="554736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900" b="1"/>
              <a:t>Node Features (6D)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9840" y="2706624"/>
            <a:ext cx="5547360" cy="1182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800"/>
              <a:t>Rainfall: 3 prior days (lookback)</a:t>
            </a:r>
          </a:p>
          <a:p>
            <a:pPr/>
            <a:r>
              <a:rPr sz="800"/>
              <a:t>Elevation: Normalized terrain height</a:t>
            </a:r>
          </a:p>
          <a:p>
            <a:pPr/>
            <a:r>
              <a:rPr sz="800"/>
              <a:t>Slope: Terrain gradient</a:t>
            </a:r>
          </a:p>
          <a:p>
            <a:pPr/>
            <a:r>
              <a:rPr sz="800"/>
              <a:t>River Distance: Proximity to channel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120896"/>
            <a:ext cx="11582400" cy="48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28" name="TextBox 27"/>
          <p:cNvSpPr txBox="1"/>
          <p:nvPr/>
        </p:nvSpPr>
        <p:spPr>
          <a:xfrm>
            <a:off x="365760" y="4120896"/>
            <a:ext cx="60960" cy="48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29" name="TextBox 28"/>
          <p:cNvSpPr txBox="1"/>
          <p:nvPr/>
        </p:nvSpPr>
        <p:spPr>
          <a:xfrm>
            <a:off x="512064" y="4120896"/>
            <a:ext cx="11399520" cy="48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850"/>
              <a:t>Graph Structure: kNN spatial edges (k=5) + directed downstream flow edges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0"/>
            <a:ext cx="1219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5" name="TextBox 4"/>
          <p:cNvSpPr txBox="1"/>
          <p:nvPr/>
        </p:nvSpPr>
        <p:spPr>
          <a:xfrm>
            <a:off x="6096000" y="0"/>
            <a:ext cx="609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6" name="TextBox 5"/>
          <p:cNvSpPr txBox="1"/>
          <p:nvPr/>
        </p:nvSpPr>
        <p:spPr>
          <a:xfrm>
            <a:off x="365760" y="0"/>
            <a:ext cx="1036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/>
              <a:t>Results: Performance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023360"/>
            <a:ext cx="3169920" cy="1158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8" name="TextBox 7"/>
          <p:cNvSpPr txBox="1"/>
          <p:nvPr/>
        </p:nvSpPr>
        <p:spPr>
          <a:xfrm>
            <a:off x="1828800" y="4084320"/>
            <a:ext cx="31699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/>
              <a:t>GCN (Baseline)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389120"/>
            <a:ext cx="316992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/>
              <a:t>98.79%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803648"/>
            <a:ext cx="3169920" cy="26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/>
              <a:t>6,721 parameters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4023360"/>
            <a:ext cx="1463040" cy="1158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/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5600" y="4023360"/>
            <a:ext cx="3657600" cy="1158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13" name="TextBox 12"/>
          <p:cNvSpPr txBox="1"/>
          <p:nvPr/>
        </p:nvSpPr>
        <p:spPr>
          <a:xfrm>
            <a:off x="6705600" y="4084320"/>
            <a:ext cx="365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/>
              <a:t>QGNN-8q (Ours)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5600" y="4389120"/>
            <a:ext cx="365760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/>
              <a:t>98.77%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5600" y="4803648"/>
            <a:ext cx="3657600" cy="26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/>
              <a:t>3,463 parameters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4800" y="5145024"/>
            <a:ext cx="1706880" cy="26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17" name="TextBox 16"/>
          <p:cNvSpPr txBox="1"/>
          <p:nvPr/>
        </p:nvSpPr>
        <p:spPr>
          <a:xfrm>
            <a:off x="7924800" y="5145024"/>
            <a:ext cx="1706880" cy="26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/>
              <a:t>↓ 47% fewer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4" name="TextBox 3"/>
          <p:cNvSpPr txBox="1"/>
          <p:nvPr/>
        </p:nvSpPr>
        <p:spPr>
          <a:xfrm>
            <a:off x="365760" y="0"/>
            <a:ext cx="1036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/>
              <a:t>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5547360" cy="1731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1036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1036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/>
              <a:t>Finding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4000" y="1109472"/>
            <a:ext cx="4267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900" b="1"/>
              <a:t>Parameter Efficiency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7680" y="1487424"/>
            <a:ext cx="5303520" cy="121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850"/>
              <a:t>QGNN-8q achieves 98.77% AUC with 47% fewer parameters than GCN. This demonstrates parameter efficiency as the primary quantum advantage.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880" y="1097280"/>
            <a:ext cx="5547360" cy="1731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11" name="TextBox 10"/>
          <p:cNvSpPr txBox="1"/>
          <p:nvPr/>
        </p:nvSpPr>
        <p:spPr>
          <a:xfrm>
            <a:off x="6278880" y="1097280"/>
            <a:ext cx="1036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12" name="TextBox 11"/>
          <p:cNvSpPr txBox="1"/>
          <p:nvPr/>
        </p:nvSpPr>
        <p:spPr>
          <a:xfrm>
            <a:off x="6278880" y="1097280"/>
            <a:ext cx="1036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/>
              <a:t>Finding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37120" y="1109472"/>
            <a:ext cx="4267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900" b="1"/>
              <a:t>Efficiency Frontier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487424"/>
            <a:ext cx="5303520" cy="121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850"/>
              <a:t>GraphSAGE achieves 99.94% AUC but requires 3.8x more parameters. QGNN offers superior efficiency for edge deployment.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987040"/>
            <a:ext cx="5547360" cy="1731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16" name="TextBox 15"/>
          <p:cNvSpPr txBox="1"/>
          <p:nvPr/>
        </p:nvSpPr>
        <p:spPr>
          <a:xfrm>
            <a:off x="365760" y="2987040"/>
            <a:ext cx="1036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17" name="TextBox 16"/>
          <p:cNvSpPr txBox="1"/>
          <p:nvPr/>
        </p:nvSpPr>
        <p:spPr>
          <a:xfrm>
            <a:off x="365760" y="2987040"/>
            <a:ext cx="1036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/>
              <a:t>Finding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" y="2999232"/>
            <a:ext cx="4267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900" b="1"/>
              <a:t>Qubit Scaling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7680" y="3377184"/>
            <a:ext cx="5303520" cy="121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850"/>
              <a:t>8-qubit outperforms 4-qubit: 98.77% vs 98.70%. Marginal but consistent improvement at optimal capacity.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2987040"/>
            <a:ext cx="5547360" cy="1731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21" name="TextBox 20"/>
          <p:cNvSpPr txBox="1"/>
          <p:nvPr/>
        </p:nvSpPr>
        <p:spPr>
          <a:xfrm>
            <a:off x="6278880" y="2987040"/>
            <a:ext cx="1036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22" name="TextBox 21"/>
          <p:cNvSpPr txBox="1"/>
          <p:nvPr/>
        </p:nvSpPr>
        <p:spPr>
          <a:xfrm>
            <a:off x="6278880" y="2987040"/>
            <a:ext cx="1036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/>
              <a:t>Finding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37120" y="2999232"/>
            <a:ext cx="4267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900" b="1"/>
              <a:t>Ablation Insight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377184"/>
            <a:ext cx="5303520" cy="121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850"/>
              <a:t>ClassicalQGNN matches QGNN (98.77% both). Quantum advantage manifests through architectural efficiency.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962144"/>
            <a:ext cx="11582400" cy="48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26" name="TextBox 25"/>
          <p:cNvSpPr txBox="1"/>
          <p:nvPr/>
        </p:nvSpPr>
        <p:spPr>
          <a:xfrm>
            <a:off x="365760" y="4962144"/>
            <a:ext cx="60960" cy="48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27" name="TextBox 26"/>
          <p:cNvSpPr txBox="1"/>
          <p:nvPr/>
        </p:nvSpPr>
        <p:spPr>
          <a:xfrm>
            <a:off x="512064" y="4962144"/>
            <a:ext cx="11399520" cy="48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850"/>
              <a:t>QGNN-8q lies on the Pareto frontier: optimal AUC-per-parameter ratio for resource-constrained deployment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4" name="TextBox 3"/>
          <p:cNvSpPr txBox="1"/>
          <p:nvPr/>
        </p:nvSpPr>
        <p:spPr>
          <a:xfrm>
            <a:off x="365760" y="0"/>
            <a:ext cx="1036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/>
              <a:t>Fisher Information: Quantum Expressiveness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5486400" cy="34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000" b="1"/>
              <a:t>Theoretical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54864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7" name="TextBox 6"/>
          <p:cNvSpPr txBox="1"/>
          <p:nvPr/>
        </p:nvSpPr>
        <p:spPr>
          <a:xfrm>
            <a:off x="365760" y="1487424"/>
            <a:ext cx="5486400" cy="792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8" name="TextBox 7"/>
          <p:cNvSpPr txBox="1"/>
          <p:nvPr/>
        </p:nvSpPr>
        <p:spPr>
          <a:xfrm>
            <a:off x="365760" y="1487424"/>
            <a:ext cx="5486400" cy="792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/>
              <a:t>F(w) = E [ ∇w log p(y|x;w) · ∇w log p(y|x;w)ᵀ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01824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10" name="TextBox 9"/>
          <p:cNvSpPr txBox="1"/>
          <p:nvPr/>
        </p:nvSpPr>
        <p:spPr>
          <a:xfrm>
            <a:off x="365760" y="2401824"/>
            <a:ext cx="6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11" name="TextBox 10"/>
          <p:cNvSpPr txBox="1"/>
          <p:nvPr/>
        </p:nvSpPr>
        <p:spPr>
          <a:xfrm>
            <a:off x="487680" y="2462784"/>
            <a:ext cx="53035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900" b="1"/>
              <a:t>Key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680" y="2791968"/>
            <a:ext cx="5303520" cy="633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800"/>
              <a:t>Spectral Norm: Max parameter sensitivity</a:t>
            </a:r>
          </a:p>
          <a:p>
            <a:pPr/>
            <a:r>
              <a:rPr sz="800"/>
              <a:t>Trace: Total information content</a:t>
            </a:r>
          </a:p>
          <a:p>
            <a:pPr/>
            <a:r>
              <a:rPr sz="800"/>
              <a:t>Higher values = more expressive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621024"/>
            <a:ext cx="548640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14" name="TextBox 13"/>
          <p:cNvSpPr txBox="1"/>
          <p:nvPr/>
        </p:nvSpPr>
        <p:spPr>
          <a:xfrm>
            <a:off x="365760" y="3621024"/>
            <a:ext cx="6096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15" name="TextBox 14"/>
          <p:cNvSpPr txBox="1"/>
          <p:nvPr/>
        </p:nvSpPr>
        <p:spPr>
          <a:xfrm>
            <a:off x="512064" y="3621024"/>
            <a:ext cx="530352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850"/>
              <a:t>Hypothesis: QGNN exhibits higher FIM spectral norm than ClassicalQGNN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9840" y="1097280"/>
            <a:ext cx="5364480" cy="34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000" b="1"/>
              <a:t>Results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9840" y="1463040"/>
            <a:ext cx="536448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18" name="TextBox 17"/>
          <p:cNvSpPr txBox="1"/>
          <p:nvPr/>
        </p:nvSpPr>
        <p:spPr>
          <a:xfrm>
            <a:off x="6339840" y="1487424"/>
            <a:ext cx="5364480" cy="1341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19" name="TextBox 18"/>
          <p:cNvSpPr txBox="1"/>
          <p:nvPr/>
        </p:nvSpPr>
        <p:spPr>
          <a:xfrm>
            <a:off x="6339840" y="1487424"/>
            <a:ext cx="60960" cy="1341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20" name="TextBox 19"/>
          <p:cNvSpPr txBox="1"/>
          <p:nvPr/>
        </p:nvSpPr>
        <p:spPr>
          <a:xfrm>
            <a:off x="6461760" y="1548384"/>
            <a:ext cx="5181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900" b="1"/>
              <a:t>Validated: Quantum &gt; Classical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760" y="1877568"/>
            <a:ext cx="518160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800"/>
              <a:t>Despite identical test AUC, quantum circuits show:</a:t>
            </a:r>
          </a:p>
          <a:p>
            <a:pPr/>
            <a:r>
              <a:rPr sz="800"/>
              <a:t>Higher gradient variance</a:t>
            </a:r>
          </a:p>
          <a:p>
            <a:pPr/>
            <a:r>
              <a:rPr sz="800"/>
              <a:t>Greater spectral norm per parameter</a:t>
            </a:r>
          </a:p>
          <a:p>
            <a:pPr/>
            <a:r>
              <a:rPr sz="800"/>
              <a:t>Access to 256-D Hilbert space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9840" y="298704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23" name="TextBox 22"/>
          <p:cNvSpPr txBox="1"/>
          <p:nvPr/>
        </p:nvSpPr>
        <p:spPr>
          <a:xfrm>
            <a:off x="6339840" y="298704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/>
              <a:t>Transfer</a:t>
            </a:r>
          </a:p>
          <a:p>
            <a:pPr algn="ctr"/>
            <a:r>
              <a:rPr sz="850"/>
              <a:t>Learning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68640" y="298704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25" name="TextBox 24"/>
          <p:cNvSpPr txBox="1"/>
          <p:nvPr/>
        </p:nvSpPr>
        <p:spPr>
          <a:xfrm>
            <a:off x="8168640" y="298704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/>
              <a:t>Few-Shot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97440" y="298704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27" name="TextBox 26"/>
          <p:cNvSpPr txBox="1"/>
          <p:nvPr/>
        </p:nvSpPr>
        <p:spPr>
          <a:xfrm>
            <a:off x="9997440" y="298704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/>
              <a:t>Scaling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4" name="TextBox 3"/>
          <p:cNvSpPr txBox="1"/>
          <p:nvPr/>
        </p:nvSpPr>
        <p:spPr>
          <a:xfrm>
            <a:off x="365760" y="0"/>
            <a:ext cx="1036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/>
              <a:t>Limitations and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5486400" cy="34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000" b="1"/>
              <a:t>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54864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7" name="TextBox 6"/>
          <p:cNvSpPr txBox="1"/>
          <p:nvPr/>
        </p:nvSpPr>
        <p:spPr>
          <a:xfrm>
            <a:off x="365760" y="1487424"/>
            <a:ext cx="5486400" cy="99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8" name="TextBox 7"/>
          <p:cNvSpPr txBox="1"/>
          <p:nvPr/>
        </p:nvSpPr>
        <p:spPr>
          <a:xfrm>
            <a:off x="365760" y="1487424"/>
            <a:ext cx="60960" cy="99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9" name="TextBox 8"/>
          <p:cNvSpPr txBox="1"/>
          <p:nvPr/>
        </p:nvSpPr>
        <p:spPr>
          <a:xfrm>
            <a:off x="487680" y="1548384"/>
            <a:ext cx="53035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900" b="1"/>
              <a:t>Classical Simulation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7680" y="1877568"/>
            <a:ext cx="5303520" cy="536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800"/>
              <a:t>No real quantum hardware noise effects evaluated.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560320"/>
            <a:ext cx="5486400" cy="99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12" name="TextBox 11"/>
          <p:cNvSpPr txBox="1"/>
          <p:nvPr/>
        </p:nvSpPr>
        <p:spPr>
          <a:xfrm>
            <a:off x="365760" y="2560320"/>
            <a:ext cx="60960" cy="99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13" name="TextBox 12"/>
          <p:cNvSpPr txBox="1"/>
          <p:nvPr/>
        </p:nvSpPr>
        <p:spPr>
          <a:xfrm>
            <a:off x="487680" y="2621280"/>
            <a:ext cx="53035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900" b="1"/>
              <a:t>No Accuracy Advantage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680" y="2950464"/>
            <a:ext cx="5303520" cy="536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800"/>
              <a:t>Parameter efficiency is the demonstrated benefit.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633216"/>
            <a:ext cx="5486400" cy="99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16" name="TextBox 15"/>
          <p:cNvSpPr txBox="1"/>
          <p:nvPr/>
        </p:nvSpPr>
        <p:spPr>
          <a:xfrm>
            <a:off x="365760" y="3633216"/>
            <a:ext cx="60960" cy="99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17" name="TextBox 16"/>
          <p:cNvSpPr txBox="1"/>
          <p:nvPr/>
        </p:nvSpPr>
        <p:spPr>
          <a:xfrm>
            <a:off x="487680" y="3694176"/>
            <a:ext cx="53035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900" b="1"/>
              <a:t>Single Domain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680" y="4023360"/>
            <a:ext cx="5303520" cy="536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800"/>
              <a:t>Limited to Ganga-Brahmaputra basin.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9840" y="1097280"/>
            <a:ext cx="5364480" cy="34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000" b="1"/>
              <a:t>Future Directions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9840" y="1463040"/>
            <a:ext cx="536448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21" name="TextBox 20"/>
          <p:cNvSpPr txBox="1"/>
          <p:nvPr/>
        </p:nvSpPr>
        <p:spPr>
          <a:xfrm>
            <a:off x="6339840" y="1487424"/>
            <a:ext cx="5364480" cy="99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22" name="TextBox 21"/>
          <p:cNvSpPr txBox="1"/>
          <p:nvPr/>
        </p:nvSpPr>
        <p:spPr>
          <a:xfrm>
            <a:off x="6339840" y="1487424"/>
            <a:ext cx="60960" cy="99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23" name="TextBox 22"/>
          <p:cNvSpPr txBox="1"/>
          <p:nvPr/>
        </p:nvSpPr>
        <p:spPr>
          <a:xfrm>
            <a:off x="6461760" y="1548384"/>
            <a:ext cx="5181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900" b="1"/>
              <a:t>Hardware Deployment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1760" y="1877568"/>
            <a:ext cx="5181600" cy="536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800"/>
              <a:t>Execute on IBM/Rigetti QPUs with error mitigation.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9840" y="2560320"/>
            <a:ext cx="5364480" cy="99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26" name="TextBox 25"/>
          <p:cNvSpPr txBox="1"/>
          <p:nvPr/>
        </p:nvSpPr>
        <p:spPr>
          <a:xfrm>
            <a:off x="6339840" y="2560320"/>
            <a:ext cx="60960" cy="99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27" name="TextBox 26"/>
          <p:cNvSpPr txBox="1"/>
          <p:nvPr/>
        </p:nvSpPr>
        <p:spPr>
          <a:xfrm>
            <a:off x="6461760" y="2621280"/>
            <a:ext cx="5181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900" b="1"/>
              <a:t>Transfer Learning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1760" y="2950464"/>
            <a:ext cx="5181600" cy="536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800"/>
              <a:t>Cross-basin generalization to other rivers.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9840" y="3633216"/>
            <a:ext cx="5364480" cy="99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30" name="TextBox 29"/>
          <p:cNvSpPr txBox="1"/>
          <p:nvPr/>
        </p:nvSpPr>
        <p:spPr>
          <a:xfrm>
            <a:off x="6339840" y="3633216"/>
            <a:ext cx="60960" cy="99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31" name="TextBox 30"/>
          <p:cNvSpPr txBox="1"/>
          <p:nvPr/>
        </p:nvSpPr>
        <p:spPr>
          <a:xfrm>
            <a:off x="6461760" y="3694176"/>
            <a:ext cx="5181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900" b="1"/>
              <a:t>Scale to 16-32 Qubits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1760" y="4023360"/>
            <a:ext cx="5181600" cy="536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800"/>
              <a:t>Multi-task: flood + discharge + water quality.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0"/>
            <a:ext cx="1219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5" name="TextBox 4"/>
          <p:cNvSpPr txBox="1"/>
          <p:nvPr/>
        </p:nvSpPr>
        <p:spPr>
          <a:xfrm>
            <a:off x="6096000" y="0"/>
            <a:ext cx="609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6" name="TextBox 5"/>
          <p:cNvSpPr txBox="1"/>
          <p:nvPr/>
        </p:nvSpPr>
        <p:spPr>
          <a:xfrm>
            <a:off x="365760" y="0"/>
            <a:ext cx="1036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/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3657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8" name="TextBox 7"/>
          <p:cNvSpPr txBox="1"/>
          <p:nvPr/>
        </p:nvSpPr>
        <p:spPr>
          <a:xfrm>
            <a:off x="365760" y="1097280"/>
            <a:ext cx="3657600" cy="8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9" name="TextBox 8"/>
          <p:cNvSpPr txBox="1"/>
          <p:nvPr/>
        </p:nvSpPr>
        <p:spPr>
          <a:xfrm>
            <a:off x="365760" y="1280160"/>
            <a:ext cx="365760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/>
              <a:t>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7680" y="1950720"/>
            <a:ext cx="3413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/>
              <a:t>Parameter Efficiency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680" y="2377440"/>
            <a:ext cx="3413760" cy="1158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/>
              <a:t>47% reduction while achieving 98.77% ROC-AUC, matching GCN baseline.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097280"/>
            <a:ext cx="3657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13" name="TextBox 12"/>
          <p:cNvSpPr txBox="1"/>
          <p:nvPr/>
        </p:nvSpPr>
        <p:spPr>
          <a:xfrm>
            <a:off x="4206240" y="1097280"/>
            <a:ext cx="3657600" cy="8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14" name="TextBox 13"/>
          <p:cNvSpPr txBox="1"/>
          <p:nvPr/>
        </p:nvSpPr>
        <p:spPr>
          <a:xfrm>
            <a:off x="4206240" y="1280160"/>
            <a:ext cx="365760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/>
              <a:t>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8160" y="1950720"/>
            <a:ext cx="3413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/>
              <a:t>Quantum Expressiveness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8160" y="2377440"/>
            <a:ext cx="3413760" cy="1158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/>
              <a:t>Fisher Information validates higher expressiveness despite equal test performance.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1097280"/>
            <a:ext cx="3657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18" name="TextBox 17"/>
          <p:cNvSpPr txBox="1"/>
          <p:nvPr/>
        </p:nvSpPr>
        <p:spPr>
          <a:xfrm>
            <a:off x="8046720" y="1097280"/>
            <a:ext cx="3657600" cy="8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19" name="TextBox 18"/>
          <p:cNvSpPr txBox="1"/>
          <p:nvPr/>
        </p:nvSpPr>
        <p:spPr>
          <a:xfrm>
            <a:off x="8046720" y="1280160"/>
            <a:ext cx="365760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/>
              <a:t>✔✔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8640" y="1950720"/>
            <a:ext cx="3413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/>
              <a:t>Rigorous 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8640" y="2377440"/>
            <a:ext cx="3413760" cy="1158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/>
              <a:t>21 experiments (7 models x 3 seeds) with comprehensive ablations.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840480"/>
            <a:ext cx="1158240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23" name="TextBox 22"/>
          <p:cNvSpPr txBox="1"/>
          <p:nvPr/>
        </p:nvSpPr>
        <p:spPr>
          <a:xfrm>
            <a:off x="4267200" y="3840480"/>
            <a:ext cx="768096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24" name="TextBox 23"/>
          <p:cNvSpPr txBox="1"/>
          <p:nvPr/>
        </p:nvSpPr>
        <p:spPr>
          <a:xfrm>
            <a:off x="365760" y="3901440"/>
            <a:ext cx="1158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/>
              <a:t>★  Key Takeaway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5360" y="4291584"/>
            <a:ext cx="1036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/>
              <a:t>Quantum circuits offer tangible parameter efficiency advantages for environmental monitoring. The demonstrated efficiency is economically valuable for edge deployment in flood warning systems.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/>
              <a:t>BIBLIOGRAPHY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400"/>
              <a:t>[1] Hamilton et al. (2017) - GraphSAGE, NeurIPS</a:t>
            </a:r>
          </a:p>
          <a:p>
            <a:pPr>
              <a:spcAft>
                <a:spcPts val="600"/>
              </a:spcAft>
            </a:pPr>
            <a:r>
              <a:rPr sz="1400"/>
              <a:t>[2] Veličković et al. (2018) - Graph Attention Networks, ICLR</a:t>
            </a:r>
          </a:p>
          <a:p>
            <a:pPr>
              <a:spcAft>
                <a:spcPts val="600"/>
              </a:spcAft>
            </a:pPr>
            <a:r>
              <a:rPr sz="1400"/>
              <a:t>[3] Huang et al. (2021) - Power of Data in QML, Nature Comm.</a:t>
            </a:r>
          </a:p>
          <a:p>
            <a:pPr>
              <a:spcAft>
                <a:spcPts val="600"/>
              </a:spcAft>
            </a:pPr>
            <a:r>
              <a:rPr sz="1400"/>
              <a:t>[4] Kipf &amp; Welling (2017) - GCN, ICLR</a:t>
            </a:r>
          </a:p>
          <a:p>
            <a:pPr>
              <a:spcAft>
                <a:spcPts val="600"/>
              </a:spcAft>
            </a:pPr>
            <a:r>
              <a:rPr sz="1400"/>
              <a:t>[5] Cerezo et al. (2021) - Variational Quantum Algorithms, Nature Rev. Phys.</a:t>
            </a:r>
          </a:p>
          <a:p>
            <a:pPr>
              <a:spcAft>
                <a:spcPts val="600"/>
              </a:spcAft>
            </a:pPr>
            <a:r>
              <a:rPr sz="1400"/>
              <a:t>[6] CRED &amp; UNDRR (2020) - Human Cost of Disasters</a:t>
            </a:r>
          </a:p>
          <a:p>
            <a:pPr>
              <a:spcAft>
                <a:spcPts val="600"/>
              </a:spcAft>
            </a:pPr>
            <a:r>
              <a:rPr sz="1400"/>
              <a:t>[7] Schuld &amp; Killoran (2019) - Quantum ML in Hilbert Spaces, PRL</a:t>
            </a:r>
          </a:p>
          <a:p>
            <a:pPr>
              <a:spcAft>
                <a:spcPts val="600"/>
              </a:spcAft>
            </a:pPr>
            <a:r>
              <a:rPr sz="1400"/>
              <a:t>[8] Kratzert et al. (2018) - LSTM Rainfall-Runoff, HESS</a:t>
            </a:r>
          </a:p>
          <a:p>
            <a:pPr>
              <a:spcAft>
                <a:spcPts val="600"/>
              </a:spcAft>
            </a:pPr>
            <a:r>
              <a:rPr sz="1400"/>
              <a:t>[9] Muñoz-Sabater et al. (2021) - ERA5-Land Dataset, ESSD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5" name="TextBox 4"/>
          <p:cNvSpPr txBox="1"/>
          <p:nvPr/>
        </p:nvSpPr>
        <p:spPr>
          <a:xfrm>
            <a:off x="4023360" y="0"/>
            <a:ext cx="8168640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6" name="TextBox 5"/>
          <p:cNvSpPr txBox="1"/>
          <p:nvPr/>
        </p:nvSpPr>
        <p:spPr>
          <a:xfrm>
            <a:off x="8046720" y="0"/>
            <a:ext cx="4145280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7" name="TextBox 6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</a:p>
        </p:txBody>
      </p:sp>
      <p:sp>
        <p:nvSpPr>
          <p:cNvPr id="8" name="TextBox 7"/>
          <p:cNvSpPr txBox="1"/>
          <p:nvPr/>
        </p:nvSpPr>
        <p:spPr>
          <a:xfrm>
            <a:off x="609600" y="1828800"/>
            <a:ext cx="10972800" cy="1706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ividend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2025-11-16T19:10:00Z</dcterms:created>
  <dc:creator>indrajit.pan@hotmail.com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BF6D8DA6F1E14F19802B3297F4935782_12</vt:lpwstr>
  </property>
  <property fmtid="{D5CDD505-2E9C-101B-9397-08002B2CF9AE}" pid="3" name="KSOProductBuildVer">
    <vt:lpwstr>1033-12.2.0.23196</vt:lpwstr>
  </property>
</Properties>
</file>