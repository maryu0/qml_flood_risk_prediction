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Two-Phase Training of Variational Quantum Circuit Enhanced LSTM for Air Pollution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 Hybrid Quantum-Classical Approach for Environmental Time-Series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Pratim Pramanik    •    Ayush Kumar    •    Bibek Gupta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Department of Computer Science, Kalinga Institute Of Industrial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1. Introduction &amp; Motivation</a:t>
            </a:r>
          </a:p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2. Problem Statement</a:t>
            </a:r>
          </a:p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3. Related Work</a:t>
            </a:r>
          </a:p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4. QLSTM Architecture</a:t>
            </a:r>
          </a:p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5. VQC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6. Two-Phase Training</a:t>
            </a:r>
          </a:p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7. Experimental Setup</a:t>
            </a:r>
          </a:p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8. Results &amp; Analysis</a:t>
            </a:r>
          </a:p>
          <a:p>
            <a:pPr>
              <a:spcAft>
                <a:spcPts val="1600"/>
              </a:spcAft>
              <a:defRPr sz="1600">
                <a:solidFill>
                  <a:srgbClr val="1E1E1E"/>
                </a:solidFill>
              </a:defRPr>
            </a:pPr>
            <a:r>
              <a:t>9.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Introduction: Why Air Quality Prediction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Air pollution poses significant threats to public health worldwide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Carbon monoxide (CO) is particularly dangerous - colorless &amp; odorless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WHO estimates 4.2 million deaths annually from outdoor air pollution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Need for timely health advisories for vulnerable populations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Informed policy decisions for emissions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The Quantum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Complex temporal dependencies challenge classical ML models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Exponential Hilbert space growth enables richer representations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Quantum entanglement captures complex correlations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Variational circuits provide trainable quantum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Challenge 1: Barren Plateau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Gradients vanish exponentially with circuit depth, making training intractable for deep quantum circuits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Challenge 2: Scale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Classical gradients (~10⁻³) dominate quantum gradients (~10⁻⁵), causing optimizer to ignore quantum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Challenge 3: Feature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Random classical features early in training provide poor quantum encoding, leading to suboptimal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Air Quality &amp;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Traditional Methods: ARIMA, SVR, Random Forest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Deep Learning: CNN-LSTM [Wen et al.]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Attention Mechanisms: Transformer-based [Li et al.]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Quantum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VQCs: Variational Quantum Circuits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Data Re-uploading: [Schuld et al., Pérez-Salinas]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Quantum-enhanced RNNs: [Chen et al.]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Gap: Effective training methodologies for hybrid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QLSTM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463040" cy="8229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 Layer</a:t>
            </a:r>
          </a:p>
          <a:p>
            <a:pPr algn="ctr">
              <a:defRPr sz="900">
                <a:solidFill>
                  <a:srgbClr val="DCDCDC"/>
                </a:solidFill>
              </a:defRPr>
            </a:pPr>
            <a:r>
              <a:t>6 steps × 12 features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4519" y="1691640"/>
            <a:ext cx="182880" cy="182880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1371600"/>
            <a:ext cx="1463040" cy="8229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LSTM Layer</a:t>
            </a:r>
          </a:p>
          <a:p>
            <a:pPr algn="ctr">
              <a:defRPr sz="900">
                <a:solidFill>
                  <a:srgbClr val="DCDCDC"/>
                </a:solidFill>
              </a:defRPr>
            </a:pPr>
            <a:r>
              <a:t>50 hidden units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80" y="1691640"/>
            <a:ext cx="182880" cy="182880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1371600"/>
            <a:ext cx="1463040" cy="8229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Dense Layer</a:t>
            </a:r>
          </a:p>
          <a:p>
            <a:pPr algn="ctr">
              <a:defRPr sz="900">
                <a:solidFill>
                  <a:srgbClr val="DCDCDC"/>
                </a:solidFill>
              </a:defRPr>
            </a:pPr>
            <a:r>
              <a:t>4 units, tanh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9240" y="1691640"/>
            <a:ext cx="182880" cy="182880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71600"/>
            <a:ext cx="146304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5087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VQC</a:t>
            </a:r>
          </a:p>
          <a:p>
            <a:pPr algn="ctr">
              <a:defRPr sz="900">
                <a:solidFill>
                  <a:srgbClr val="DCDCDC"/>
                </a:solidFill>
              </a:defRPr>
            </a:pPr>
            <a:r>
              <a:t>4 qubits, 16 params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86600" y="1691640"/>
            <a:ext cx="182880" cy="182880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1463040" cy="8229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5087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</a:t>
            </a:r>
          </a:p>
          <a:p>
            <a:pPr algn="ctr">
              <a:defRPr sz="900">
                <a:solidFill>
                  <a:srgbClr val="DCDCDC"/>
                </a:solidFill>
              </a:defRPr>
            </a:pPr>
            <a:r>
              <a:t>CO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</a:defRPr>
            </a:pPr>
            <a:r>
              <a:t>• Classical Components: LSTM extracts temporal features, Dense encodes to [-1, 1]</a:t>
            </a:r>
          </a:p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</a:defRPr>
            </a:pPr>
            <a:r>
              <a:t>• Quantum Components: 4-qubit VQC with 16 trainable parameters, data re-uploading</a:t>
            </a:r>
          </a:p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</a:defRPr>
            </a:pPr>
            <a:r>
              <a:t>• Skip Connection: h_classical concatenated with h_quantum for stable gradient flow</a:t>
            </a:r>
          </a:p>
          <a:p>
            <a:pPr>
              <a:spcAft>
                <a:spcPts val="1200"/>
              </a:spcAft>
              <a:defRPr sz="1400">
                <a:solidFill>
                  <a:srgbClr val="1E1E1E"/>
                </a:solidFill>
              </a:defRPr>
            </a:pPr>
            <a:r>
              <a:t>• Output: ŷ = W_out · [h_classical ⊕ h_quantum] +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4-Layer Variational Quantum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4-qubit circuit with RZ, RY, RX rotation gates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CNOT and CZ gates for entanglement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Data Re-uploading: Classical data encoded in layers 1, 2, 3 for increased expressivity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16 trainable parameters θᵢ⁽ˡ⁾ optimized during training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Measurement: Pauli-Z expectation values ⟨Zᵢ⟩ for output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Encoding formula: φᵢ = (h_classical + 1) · π/2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Two-Phase Training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Phase 1: Classical Pre-training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Train: LSTM + Dense layers only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Frozen: Quantum parameters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Optimizer: Adam (lr=0.001)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Early stopping: patience=5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Batch size: 32, Epochs: 25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Goal: Extract robust temporal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Phase 2: Quantum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Frozen: Classical weights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Train: Quantum params + output layer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LR schedule: Cosine decay (0.03 → 0)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Initialization: Uniform [-π/2, π/2]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Batch size: 64, Epochs: 40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Goal: Optimize quantum parameters with stable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Two-Phase Training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Stable Classical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Quantum circuit receives consistent, meaningful input encodings rather than random features from untrained classical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Gradient Scale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Dedicated quantum optimization with appropriate learning rates prevents optimizer from ignoring small quantum gradients (~10⁻⁵)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Symmetry Breaking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Non-zero initialization of quantum output weights breaks symmetry that traps gradients at zero during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UCI Air Quality Dataset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9,358 hourly instances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12 features (sensors, temp, humidity)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Target: CO concentration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Split: 80% train, 10% val, 10% test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Min-Max normalization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6-hour sliding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TensorFlow 2.x + PennyLane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Lightning.qubit backend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Adjoint differentiation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Baselines: Random Forest (100 estimators), LSTM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Metrics: MAE, RMSE, R²,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0.7969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0.7982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QLSTM (Ours)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0.0400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0.0543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0.7990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Ablation Study: Two-Phase vs One-Phase Training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Training Method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One-Phase (End-to-End)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0.7300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Two-Phase (Ours)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0.0426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0.0579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0.7716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+5.18%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+7.95%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+5.69%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24-Hour CO Concentration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QLSTM closely tracks actual CO concentration values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Especially accurate during pollution peaks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Demonstrates practical applicability for real-time forecasting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Better performance than baseline LSTM on temporal patterns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</a:defRPr>
            </a:pPr>
            <a:r>
              <a:t>• Validates quantum enhancement for time-series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Discussion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Novel two-phase training methodology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Addresses barren plateau problem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Skip connections ensure gradient flow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Practical for current NISQ devices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Demonstrates quantum-classical synergy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Quantum simulation overhead (slower training)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Marginal improvement over LSTM (+0.08%)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Dataset may not fully exploit quantum advantages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Real quantum hardware evaluation needed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4-qubit implementation (simulation only)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QLSTM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Hybrid model combining LSTM with 4-qubit VQC featuring data re-uploading and skip connections for stable gradient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Two-Phase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Novel methodology addressing barren plateaus: classical pre-training → quantum fine-tuning with dedicated optimizers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6517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4688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Empirical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4688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64646"/>
                </a:solidFill>
              </a:defRPr>
            </a:pPr>
            <a:r>
              <a:t>5.69% R² improvement over end-to-end training on UCI Air Quality dataset, validating the approach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