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830">
              <a:alpha val="60000"/>
            </a:srgbClr>
          </a:solidFill>
          <a:ln w="12700">
            <a:solidFill>
              <a:srgbClr val="00183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Quantum Circuits for Graph-Based Flood Prediction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Jyoti          Arohi Anvi          Aditya Prakash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3268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877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1064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flood prediction matters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3268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932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877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0" y="11064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Ganga-Brahmaputra basin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57276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572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1517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QGNN Architecture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17465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57276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5727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15179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Circuit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74650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8-qubit VQC with CZ ladder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210312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221284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212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2157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23865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models x 3 seeds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210312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21284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2128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2157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38658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274320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2852928"/>
            <a:ext cx="310896" cy="310896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852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27980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Analysis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30266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expressiveness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743200"/>
            <a:ext cx="4023360" cy="5303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798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parameter reduction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54880" y="303580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98.77% ROC-AUC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Why Flood Prediction Matters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Challenge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4572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887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Impact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35608"/>
            <a:ext cx="3977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$50+ billion annual losses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destructive natural disaster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increasing frequency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45720" cy="868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031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350008"/>
            <a:ext cx="3977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spatial-temporal data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terrain-rainfall interactions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GNNs need many params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Opportunity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0233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430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14300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887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43560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256-D Hilbert space (8 qubits)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captures correlations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features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0574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057400"/>
            <a:ext cx="45720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1031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350008"/>
            <a:ext cx="3886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NISQ-era quantum ML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parameter efficiency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Information analysis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02336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457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01752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8-qubit circuits match classical accuracy with 47% fewer parameters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114800" cy="384048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017520"/>
            <a:ext cx="457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0175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Asia: floods affect 250M+ people annually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Ganga-Brahmaputra River Basin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920240" cy="7772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96112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328166"/>
            <a:ext cx="19202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Nodes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41448" y="822960"/>
            <a:ext cx="1920240" cy="7772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41448" y="896112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41448" y="1328166"/>
            <a:ext cx="19202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Graphs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08576" y="822960"/>
            <a:ext cx="1920240" cy="77724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896112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08576" y="1328166"/>
            <a:ext cx="19202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Edges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75704" y="822960"/>
            <a:ext cx="1920240" cy="77724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75704" y="896112"/>
            <a:ext cx="19202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75704" y="1328166"/>
            <a:ext cx="192024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173736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7373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7830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029968"/>
            <a:ext cx="39776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ERA5-Land: Satellite rainfall (mean 4.5 mm/day)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SRTM: Elevation model (13-5808m)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1,002 days (2018-2020)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24-29N, 76-92E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737360"/>
            <a:ext cx="42976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737360"/>
            <a:ext cx="45720" cy="1234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83080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(6D)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029968"/>
            <a:ext cx="416052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3 prior days (lookback)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Elevation: Normalized terrain height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Slope: Terrain gradient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Distance: Proximity to channel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090672"/>
            <a:ext cx="8686800" cy="36576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090672"/>
            <a:ext cx="457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090672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Structure: kNN spatial edges (k=5) + directed downstream flow edges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QGNN Architecture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12064" y="896112"/>
            <a:ext cx="987552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206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50x6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9961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00784" y="896112"/>
            <a:ext cx="987552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078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0078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6-32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8833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89504" y="896112"/>
            <a:ext cx="987552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950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950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32-32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7705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78224" y="896112"/>
            <a:ext cx="987552" cy="5029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7822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7822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8-qubit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6577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266944" y="896112"/>
            <a:ext cx="987552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6694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5449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55664" y="896112"/>
            <a:ext cx="987552" cy="502920"/>
          </a:xfrm>
          <a:prstGeom prst="rect">
            <a:avLst/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5566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40-32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43216" y="896112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44384" y="896112"/>
            <a:ext cx="987552" cy="502920"/>
          </a:xfrm>
          <a:prstGeom prst="rect">
            <a:avLst/>
          </a:prstGeom>
          <a:solidFill>
            <a:srgbClr val="D1FAE5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44384" y="950976"/>
            <a:ext cx="9875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644384" y="1170432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15544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1554480"/>
            <a:ext cx="45720" cy="10972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6002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Encoder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184708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GCN layers + ReLU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(p=0.3)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Graph-aware embeddings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15544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1554480"/>
            <a:ext cx="457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16002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Layer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184708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32D to 8D via tanh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8-qubit variational circuit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Pauli-Z measurements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26480" y="155448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26480" y="1554480"/>
            <a:ext cx="45720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6002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84708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Concat: [32 + 8] = 40D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classical features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quantum expressiveness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788920"/>
            <a:ext cx="868680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2788920"/>
            <a:ext cx="457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2788920"/>
            <a:ext cx="8549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62 quantum + 3,401 classical = 3,463  (vs 6,721 for GCN baseline)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8-Qubit Variational Quantum Circuit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Structure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411480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15568"/>
            <a:ext cx="457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6128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Angle Encoding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08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RY(pi*theta_j) on each qubit j in {0,...,7}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792224"/>
            <a:ext cx="45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3794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Variational Layer (x2)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084832"/>
            <a:ext cx="39776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Rot(phi, theta, omega): 3 params/qubit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 Ring: Circular entanglement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 Ladder: Phase correlations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41148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24328"/>
            <a:ext cx="4572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7004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Measurement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916936"/>
            <a:ext cx="39776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Pauli-Z expectation values in [-1, 1] for all 8 qubits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CZ Ladder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0233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15568"/>
            <a:ext cx="402336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1704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CZ + CNOT?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42646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8350F"/>
                </a:solidFill>
              </a:rPr>
              <a:t>CNOT Ring: Circular entanglement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8350F"/>
                </a:solidFill>
              </a:rPr>
              <a:t>CZ Ladder: Phase-based correlations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78350F"/>
                </a:solidFill>
              </a:rPr>
              <a:t>Combined = stronger entanglement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148840"/>
            <a:ext cx="1920240" cy="6858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2199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54880" y="2594610"/>
            <a:ext cx="1920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Params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2148840"/>
            <a:ext cx="1737360" cy="6858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2219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2594610"/>
            <a:ext cx="17373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 Params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944368"/>
            <a:ext cx="4023360" cy="3657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944368"/>
            <a:ext cx="457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94436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qubits = 2^8 = 256-dimensional Hilbert space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 / 12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  <a:gridCol w="1554480"/>
                <a:gridCol w="1188720"/>
                <a:gridCol w="1280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 ± 0.007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 ± 0.007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 ± 0.002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 ± 0.004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 ± 0.004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 ± 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13,249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 ± 0.005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 ± 0.006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 ± 0.002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ClassicalQGNN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 ± 0.007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 ± 0.008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 ± 0.002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3,141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QGNN-8q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 ± 0.007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 ± 0.007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 ± 0.002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71600" y="3017520"/>
            <a:ext cx="237744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3063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GCN (Baseline)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371600" y="32918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71600" y="360273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6,721 parameters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840480" y="30175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9669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29200" y="3017520"/>
            <a:ext cx="2743200" cy="8686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QGNN-8q (Ours)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98.77%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0" y="3602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3,463 parameters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943600" y="3858768"/>
            <a:ext cx="1280160" cy="2011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8587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↓ 47% fewer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8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77724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Finding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43000" y="8321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Efficiency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155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QGNN-8q achieves 98.77% AUC with 47% fewer parameters than GCN. This demonstrates parameter efficiency as the primary quantum advantage.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777240" cy="2286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Finding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77840" y="83210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Frontier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111556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achieves 99.94% AUC but requires 3.8x more parameters. QGNN offers superior efficiency for edge deployment.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2402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40280"/>
            <a:ext cx="7772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402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Finding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3000" y="22494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Scaling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53288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8-qubit outperforms 4-qubit: 98.77% vs 98.70%. Marginal but consistent improvement at optimal capacity.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2240280"/>
            <a:ext cx="41605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40280"/>
            <a:ext cx="77724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24028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Finding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77840" y="22494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Insight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53288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ClassicalQGNN matches QGNN (98.77% both). Quantum advantage manifests through architectural efficiency.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721608"/>
            <a:ext cx="868680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721608"/>
            <a:ext cx="457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721608"/>
            <a:ext cx="8549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QGNN-8q lies on the Pareto frontier: optimal AUC-per-parameter ratio for resource-constrained deployment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Information: Quantum Expressiveness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4114800" cy="59436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F(w) = E [ ∇w log p(y|x;w) · ∇w log p(y|x;w)ᵀ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01368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801368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4708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0939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Norm: Max parameter sensitivity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Total information content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values = more expressive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715768"/>
            <a:ext cx="4114800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715768"/>
            <a:ext cx="457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7157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QGNN exhibits higher FIM spectral norm than ClassicalQGNN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15568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15568"/>
            <a:ext cx="4572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6128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Quantum &gt; Classical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140817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identical test AUC, quantum circuits show: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gradient variance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spectral norm per parameter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256-D Hilbert space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0280"/>
            <a:ext cx="1234440" cy="82296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40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2240280"/>
            <a:ext cx="1234440" cy="82296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240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8080" y="2240280"/>
            <a:ext cx="1234440" cy="822960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2240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148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15568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15568"/>
            <a:ext cx="457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6128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Simulation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0817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quantum hardware noise effects evaluated.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20240"/>
            <a:ext cx="457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6596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Accuracy Advantage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12848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efficiency is the demonstrated benefit.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724912"/>
            <a:ext cx="41148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724912"/>
            <a:ext cx="4572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70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017520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Ganga-Brahmaputra basin.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822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0233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115568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15568"/>
            <a:ext cx="457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6128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Deployment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408176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on IBM/Rigetti QPUs with error mitigation.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1920240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920240"/>
            <a:ext cx="457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96596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2212848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Cross-basin generalization to other rivers.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724912"/>
            <a:ext cx="40233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724912"/>
            <a:ext cx="457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77063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16-32 Qubits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017520"/>
            <a:ext cx="3886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Multi-task: flood + discharge + water quality.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11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743200" cy="6400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365D"/>
                </a:solidFill>
              </a:rPr>
              <a:t>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Efficiency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reduction while achieving 98.77% ROC-AUC, matching GCN baseline.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C3AED"/>
                </a:solidFill>
              </a:rPr>
              <a:t>⚛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Expressiveness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Information validates higher expressiveness despite equal test performance.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35040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822960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59669"/>
                </a:solidFill>
              </a:rPr>
              <a:t>✔✔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experiments (7 models x 3 seeds) with comprehensive ablations.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8686800" cy="1143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2880360"/>
            <a:ext cx="5760720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9260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Key Takeaway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21868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circuits offer tangible parameter efficiency advantages for environmental monitoring. The demonstrated efficiency is economically valuable for edge deployment in flood warning systems.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61264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830">
              <a:alpha val="60000"/>
            </a:srgbClr>
          </a:solidFill>
          <a:ln w="12700">
            <a:solidFill>
              <a:srgbClr val="00183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2026-03-29T17:43:36Z</dcterms:created>
  <dcterms:modified xsi:type="dcterms:W3CDTF">2026-03-29T17:43:36Z</dcterms:modified>
</cp:coreProperties>
</file>